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7.55</c:v>
                </c:pt>
                <c:pt idx="1">
                  <c:v>8.64</c:v>
                </c:pt>
                <c:pt idx="2">
                  <c:v>9.8699999999999992</c:v>
                </c:pt>
                <c:pt idx="3">
                  <c:v>11.31</c:v>
                </c:pt>
                <c:pt idx="4">
                  <c:v>11.93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4A-4B49-A84A-EF46D95273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EV/EBITDA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CAVA</c:v>
                </c:pt>
                <c:pt idx="1">
                  <c:v>Wingstop</c:v>
                </c:pt>
                <c:pt idx="2">
                  <c:v>CMG</c:v>
                </c:pt>
                <c:pt idx="3">
                  <c:v>Shake Shack</c:v>
                </c:pt>
                <c:pt idx="4">
                  <c:v>Texas Roadhouse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71.7</c:v>
                </c:pt>
                <c:pt idx="1">
                  <c:v>24.7</c:v>
                </c:pt>
                <c:pt idx="2">
                  <c:v>18.899999999999999</c:v>
                </c:pt>
                <c:pt idx="3">
                  <c:v>18.3</c:v>
                </c:pt>
                <c:pt idx="4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FA-4C42-A313-02236002F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FY26E</c:v>
                </c:pt>
                <c:pt idx="4">
                  <c:v>FY27E</c:v>
                </c:pt>
                <c:pt idx="5">
                  <c:v>FY28E</c:v>
                </c:pt>
                <c:pt idx="6">
                  <c:v>FY29E</c:v>
                </c:pt>
                <c:pt idx="7">
                  <c:v>FY30E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9.9</c:v>
                </c:pt>
                <c:pt idx="1">
                  <c:v>11.3</c:v>
                </c:pt>
                <c:pt idx="2">
                  <c:v>11.9</c:v>
                </c:pt>
                <c:pt idx="3">
                  <c:v>13.1</c:v>
                </c:pt>
                <c:pt idx="4">
                  <c:v>14.6</c:v>
                </c:pt>
                <c:pt idx="5">
                  <c:v>16.3</c:v>
                </c:pt>
                <c:pt idx="6">
                  <c:v>18.100000000000001</c:v>
                </c:pt>
                <c:pt idx="7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9-FB4E-A2A1-B56F14FB2C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Implied $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DCF (Gordon)</c:v>
                </c:pt>
                <c:pt idx="1">
                  <c:v>DCF (average)</c:v>
                </c:pt>
                <c:pt idx="2">
                  <c:v>Comps (EV/EBITDA)</c:v>
                </c:pt>
                <c:pt idx="3">
                  <c:v>Comps (P/E)</c:v>
                </c:pt>
                <c:pt idx="4">
                  <c:v>Analyst consensus</c:v>
                </c:pt>
                <c:pt idx="5">
                  <c:v>DCF (exit)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35.6</c:v>
                </c:pt>
                <c:pt idx="2">
                  <c:v>39.6</c:v>
                </c:pt>
                <c:pt idx="3">
                  <c:v>40</c:v>
                </c:pt>
                <c:pt idx="4">
                  <c:v>42.9</c:v>
                </c:pt>
                <c:pt idx="5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A6-6841-B34F-E817F5B8B2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02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call: Buy, $38 target, about 24% upside. The hook is a strong business down about 42% and now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business: company-owned, no franchising, so it controls returns. About 4,000 stores, roughly $3.1M average unit volume, about 21% return on capital. Steady double-digit revenue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points: cheap vs. its history, a long runway for new stores, and margin recovery plus buybacks. Be ready to defend each with the comps and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now: down about 42% on soft traffic, but the unit economics are intact. EV/EBITDA near 19x is low vs. peers and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drivers: same-store sales recover to about 1.5% then 3 to 3.5%, about 320 to 410 net new stores a year, restaurant margin 25.4% toward 27%. EPS $1.14 to $2.69 by 2030. Know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Valuation: DCF $26 (Gordon) to $45 (exit), average about $36; comps about $40. Blended about $38. The wide DCF range is terminal-value sensitivity. Street average is $42.88.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Catalysts are the path to a higher multiple: same-store sales recovery, faster openings, throughput, margin recovery, buybacks, international.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Risks: traffic, cost inflation and tariffs, a premium multiple, and execution. Pair each risk with a mitigant.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risk and reward: about 24% upside in the base case, bear near $26. Reiterate Buy and invite questions on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Chipotle Mexican Grill, Inc. (CMG)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560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Note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Luke Yin      June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3657600"/>
            <a:ext cx="1084478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Rating: Buy        Price target: $38        Current price: $30.54        Upside: 24%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$38, blended from a DCF and comparable companies. Bull case $45, bear case $26. The stock is down about 42% over the past year while the unit economics stay steady.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and runs all of its restaurants, with no franchising, so it controls operations, quality and returns.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4,056 restaurants (4,042 company-run); FY2025 revenue $11.9B, up 5.4%.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unit volume about $3.1M; restaurant-level margin 25.4%; return on invested capital about 21%.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funded debt; about $1.5B of free cash flow, most of it returned through buybacks.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targets about 7,000 North American restaurants, up from about 4,000 today.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($B), FY2021 to FY2025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92240" y="169164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reasons to own CMG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versus its own history. After a drop of about 42%, CMG trades near 19x EV/EBITDA and 26x forward earnings, below fast-casual peers (CAVA about 72x, Wingstop about 25x) and below its own past range, despite far greater scale and returns.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runway for new stores. Room to grow from about 4,000 to about 7,000 North American restaurants, roughly 8% more units a year, led by the higher-margin Chipotlane drive-thru, with an early international option on top.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recovery plus buybacks. Restaurant-level margin should move back from 25.4% toward about 27% as traffic recovers, while about $1.5B of yearly free cash flow retires roughly 2 to 3% of the shares each year, which lifts earnings per share.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about 42% over the past year on soft traffic (2025 same-store sales down 1.7%, transactions down 2.9%).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treating a soft patch as a permanent problem, but the unit economics, the roughly $3.1M average unit volume and the roughly 21% return on capital are still strong.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has fallen to about 19x EV/EBITDA, the low end of its range since the IPO and below faster-growing peers.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changes, better throughput, the Chipotlane and faster openings can lift the multiple once same-store sales turn positive.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EBITDA, CMG vs. peers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92240" y="169164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($B), FY2023 to FY2030E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7208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projections (base case)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691640"/>
          <a:ext cx="4983480" cy="32186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FY28E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FY30E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($B)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Restaurants (EOP)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Restaurant-level 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 ($B)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Diluted EPS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Diluted shares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20840" y="5440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same-store sales recover to 1.5% then 3 to 3.5%, about 320 to 410 net new stores a year, and small margin gains.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937760" cy="321868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DCF (Gordon growth)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DCF (exit multiple)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DCF (average)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Comps (EV/EBITDA, 21.5x)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Comps (forward P/E)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Blended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consensus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$42.88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029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target $38, about 24% above the current $30.54. Bear $26, bull $45.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share price by method ($)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806440" y="1691640"/>
          <a:ext cx="5897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Same-store sales turn positive again as the menu refreshes and value improves.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openings speed up toward 10% unit growth, mostly drive-thru Chipotlane formats.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throughput and new kitchen technology raise capacity at peak hours.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Restaurant-level margin recovers toward 27% as sales improve and food costs ease.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Buybacks keep lowering the share count by about 2 to 3% a year.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international stores add a longer-term growth option.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stays soft if consumers pull back or the brand loses its value edge; offset by strong unit economics and pricing power.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Beef, chicken, dairy and labor inflation, plus 2025 tariffs, could squeeze margins; scale buying and menu price help over time.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stock is not cheap on an absolute basis at about 26x forward earnings, so a miss would hurt; the bear case near $26 frames the downside.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stores quickly can pull sales from nearby stores and strain operations; disciplined real estate and a deep operations team help.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Buy. Target $38, about 24% above the current price.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$26          Base $38          Bull $45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high-return business (return on capital about 21%, no debt) trading at a low multiple after a drop of about 42%.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to about 7,000 North American stores, margin recovery and steady buybacks point to high-teens earnings growth through 2030.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reward look favorable: about 24% upside in the base case, with the bear case near $26.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Microsoft Macintosh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Chipotle Mexican Grill (CMG) Equity Research</dc:title>
  <dc:subject>PptxGenJS Presentation</dc:subject>
  <dc:creator>Luke Yin</dc:creator>
  <cp:lastModifiedBy>Luke Yin</cp:lastModifiedBy>
  <cp:revision>2</cp:revision>
  <dcterms:created xsi:type="dcterms:W3CDTF">2026-06-23T19:54:47Z</dcterms:created>
  <dcterms:modified xsi:type="dcterms:W3CDTF">2026-06-24T19:39:48Z</dcterms:modified>
</cp:coreProperties>
</file>